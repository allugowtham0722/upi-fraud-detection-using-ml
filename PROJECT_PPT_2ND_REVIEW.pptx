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7" r:id="rId2"/>
    <p:sldId id="259" r:id="rId3"/>
    <p:sldId id="260" r:id="rId4"/>
    <p:sldId id="261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85" r:id="rId15"/>
    <p:sldId id="274" r:id="rId16"/>
    <p:sldId id="283" r:id="rId17"/>
    <p:sldId id="275" r:id="rId18"/>
    <p:sldId id="28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6" r:id="rId27"/>
    <p:sldId id="289" r:id="rId28"/>
    <p:sldId id="287" r:id="rId29"/>
    <p:sldId id="288" r:id="rId30"/>
    <p:sldId id="290" r:id="rId31"/>
    <p:sldId id="291" r:id="rId32"/>
    <p:sldId id="292" r:id="rId33"/>
    <p:sldId id="262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4660"/>
  </p:normalViewPr>
  <p:slideViewPr>
    <p:cSldViewPr showGuides="1">
      <p:cViewPr varScale="1">
        <p:scale>
          <a:sx n="78" d="100"/>
          <a:sy n="78" d="100"/>
        </p:scale>
        <p:origin x="1915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tham Majjiga" userId="072eb6822fb136b4" providerId="LiveId" clId="{D8D52BC0-7284-4525-BD94-F95C07FFB205}"/>
    <pc:docChg chg="undo custSel modSld">
      <pc:chgData name="Gowtham Majjiga" userId="072eb6822fb136b4" providerId="LiveId" clId="{D8D52BC0-7284-4525-BD94-F95C07FFB205}" dt="2026-04-10T05:25:56.593" v="62" actId="20577"/>
      <pc:docMkLst>
        <pc:docMk/>
      </pc:docMkLst>
      <pc:sldChg chg="modSp mod">
        <pc:chgData name="Gowtham Majjiga" userId="072eb6822fb136b4" providerId="LiveId" clId="{D8D52BC0-7284-4525-BD94-F95C07FFB205}" dt="2026-04-10T05:25:56.593" v="62" actId="20577"/>
        <pc:sldMkLst>
          <pc:docMk/>
          <pc:sldMk cId="0" sldId="257"/>
        </pc:sldMkLst>
        <pc:spChg chg="mod">
          <ac:chgData name="Gowtham Majjiga" userId="072eb6822fb136b4" providerId="LiveId" clId="{D8D52BC0-7284-4525-BD94-F95C07FFB205}" dt="2026-04-10T05:25:56.593" v="62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Gowtham Majjiga" userId="072eb6822fb136b4" providerId="LiveId" clId="{D8D52BC0-7284-4525-BD94-F95C07FFB205}" dt="2026-04-10T05:25:50.949" v="61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Gowtham Majjiga" userId="072eb6822fb136b4" providerId="LiveId" clId="{D8D52BC0-7284-4525-BD94-F95C07FFB205}" dt="2026-04-10T03:33:19.059" v="13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Gowtham Majjiga" userId="072eb6822fb136b4" providerId="LiveId" clId="{D8D52BC0-7284-4525-BD94-F95C07FFB205}" dt="2026-04-10T04:34:38.864" v="59" actId="1035"/>
        <pc:sldMkLst>
          <pc:docMk/>
          <pc:sldMk cId="1759049883" sldId="273"/>
        </pc:sldMkLst>
        <pc:picChg chg="mod">
          <ac:chgData name="Gowtham Majjiga" userId="072eb6822fb136b4" providerId="LiveId" clId="{D8D52BC0-7284-4525-BD94-F95C07FFB205}" dt="2026-04-10T04:34:38.864" v="59" actId="1035"/>
          <ac:picMkLst>
            <pc:docMk/>
            <pc:sldMk cId="1759049883" sldId="273"/>
            <ac:picMk id="7" creationId="{BCE71CD9-7EF9-E655-A529-8BABD2DEBE7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25056-1DB3-4556-9102-4B17A8399A1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ED81C6-7F90-40EA-8275-DB46E1724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12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D81C6-7F90-40EA-8275-DB46E17244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77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FD856B37-9974-4D5F-857A-4314FAAE392D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EA3B446B-75FB-4F1B-9B3C-B6A9C413A94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305800" cy="944562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SIDDARTHA INSTITUTE OF SCIENCE AND TECHNOLOGY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</p:txBody>
      </p:sp>
      <p:sp>
        <p:nvSpPr>
          <p:cNvPr id="3" name="Title 1"/>
          <p:cNvSpPr txBox="1"/>
          <p:nvPr/>
        </p:nvSpPr>
        <p:spPr>
          <a:xfrm>
            <a:off x="990600" y="3276600"/>
            <a:ext cx="4114800" cy="243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7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7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7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7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7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7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7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7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7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74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1026" name="Picture 2" descr="Siddharth Institute of Engineering &amp; Technology - [SIETK], Puttur -  Admissions, Contact, Website, Facilities 2021-202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533400"/>
            <a:ext cx="1142999" cy="1152525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146685" y="1504950"/>
            <a:ext cx="867029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algn="ctr"/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UPI FRAUD DETECTION USING MACHINE LEARNING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790700" y="1080519"/>
            <a:ext cx="5562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lvl="0" algn="ctr">
              <a:spcBef>
                <a:spcPct val="0"/>
              </a:spcBef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(ARTIFICIAL INTELLIGENCE AND DATA SCIENCE</a:t>
            </a:r>
          </a:p>
          <a:p>
            <a:pPr lvl="0" algn="ctr">
              <a:spcBef>
                <a:spcPct val="0"/>
              </a:spcBef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47800" y="5334000"/>
            <a:ext cx="60375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 </a:t>
            </a:r>
          </a:p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Ms. A. Surekha</a:t>
            </a:r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Tech.</a:t>
            </a:r>
          </a:p>
          <a:p>
            <a:pPr algn="ctr"/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Assistant Professor, Dept. of  CSE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981200" y="2819400"/>
            <a:ext cx="5417820" cy="2223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IN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MAJJIGA GOWTHAM                  224E1A4718</a:t>
            </a:r>
          </a:p>
          <a:p>
            <a:pPr algn="ctr"/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 V CHANDANA                           224E1A4787   </a:t>
            </a:r>
          </a:p>
          <a:p>
            <a:pPr algn="ctr"/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VISHNU VARDHAN                  224E1A4788</a:t>
            </a:r>
          </a:p>
          <a:p>
            <a:pPr algn="ctr"/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K HARI PRASAD                          224E1A4720</a:t>
            </a:r>
          </a:p>
          <a:p>
            <a:pPr algn="ctr"/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 LIKHITH KUMAR                     224E1A4739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70000"/>
            <a:ext cx="8498840" cy="543814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UPI (Unified Payment Interface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has rapidly grown as a digital payment system, but this expansion has led to rising financial fraud. Traditional rule-based detection methods fail to adapt to evolving attack strategies.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introduces a machine learning–based framework for real-time UPI fraud detection. The system analyzes transaction attributes such as amount, sender/receiver VPA, and device ID to identify suspicious activity. A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-powered interface enables two modes: single transaction verification and batch analysis through CSV uploads.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generates dashboards highlighting fraudulent transaction counts, potential monetary loss, and high-risk users or devices. By leveraging classification models and predictive analytics, the approach improves accuracy and scalability compared to conventional methods.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enhances financial security by providing a reliable, interactive tool for detecting and mitigating UPI fraud in real time.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687435" y="5301615"/>
            <a:ext cx="189230" cy="1281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I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1275"/>
            <a:ext cx="8229600" cy="481520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Begins with the design of a secure architecture that integrates machine learning models for UPI fraud detection. The framework employs classification algorithms to derive fraud indicators from transaction features such as amount, sender/receiver VPA, and device ID.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Stream lit interface supports single transaction checks and batch CSV uploads, enabling scalable analysis. Dashboards summarize fraudulent counts, potential monetary loss, and risky users or devices.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ensures transaction legitimacy without exposing sensitive data, while integrity protections maintain reliability of stored results. Comparative evaluation with rule-based systems demonstrates improved adaptability, accuracy, and efficiency.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strengthens financial security by providing a practical, real-time solution for detecting and mitigating UPI fraud.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864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UPI Fraud Detection Using Machine Learning focuses on securing digital payment transactions by identifying and preventing fraudulent activities in real time.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leverages machine learning algorithms to analyze transaction patterns and detect anomalies that traditional rule-based systems fail to capture.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financial security by continuously learning from new fraud techniques and adapting to evolving threats.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both single-transaction analysis and bulk transaction verification through CSV uploads, with results displayed on an interactive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predictive modeling and real-time classification, the project enhances trust and reliability in the UPI ecosystem.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classification using supervised machine learning models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(amount, sender/receiver VPA, device ID, transaction frequency)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anomaly detection and predictive modeling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for fraud reporting and visualization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Bulk transaction analysis with CSV file uploads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for fraud impact (money lost, risky users/devices)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5DE2-9749-FC13-1543-17553D7E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B68C7-0EB1-6DA8-82CD-D145D905F3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524000"/>
            <a:ext cx="8229600" cy="487680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4291580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99126-8D98-7AB7-0D71-A15194B6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ABCDB-CDDF-C7E4-58BD-915172527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UPI growth has created complex fraud patterns that traditional and manual systems cannot detect.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ML system is needed to automatically identify abnormal transactions and prevent financial loss.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2198FAE-FCE5-D399-1837-72E66E1DDD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545341"/>
              </p:ext>
            </p:extLst>
          </p:nvPr>
        </p:nvGraphicFramePr>
        <p:xfrm>
          <a:off x="5486400" y="7162800"/>
          <a:ext cx="17907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790523" imgH="517956" progId="Package">
                  <p:embed/>
                </p:oleObj>
              </mc:Choice>
              <mc:Fallback>
                <p:oleObj name="Packager Shell Object" showAsIcon="1" r:id="rId2" imgW="1790523" imgH="517956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2198FAE-FCE5-D399-1837-72E66E1DDD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86400" y="7162800"/>
                        <a:ext cx="17907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3227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37B67-0A20-F3A0-04C5-FC4DC55A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032B4-3A20-A221-7A19-DA815B1F5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payment systems (IMPS/NEFT/basic UPI) use static, rule-based security to verify transactions.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expose sensitive details (Account No., IFSC) and rely only on simple authentication like MPIN/OTP.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cannot analyze transaction behavior in real time, making them weak against new fraud patterns.</a:t>
            </a:r>
          </a:p>
          <a:p>
            <a:pPr marL="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71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8BCD0-FDF4-A6C1-A9E3-9513B71B6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 ADVANTAGES OF 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789E-CA4B-97CE-4D0B-3E603B434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Sensitive banking data (Account No., IFSC) is exposed during transactions, increasing data theft risk.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Fraud After Money is Lost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Understand User Behavior</a:t>
            </a:r>
          </a:p>
        </p:txBody>
      </p:sp>
    </p:spTree>
    <p:extLst>
      <p:ext uri="{BB962C8B-B14F-4D97-AF65-F5344CB8AC3E}">
        <p14:creationId xmlns:p14="http://schemas.microsoft.com/office/powerpoint/2010/main" val="3872981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692E6-C6A9-2D8F-E692-796060883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36BF6-A8FD-8BEE-1C1C-D28DCF759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system replaces static rule-based checks with a Machine Learning-driven fraud detection framework.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and \XG Boost classifiers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high accuracy, and is integrated into a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fraud detection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109222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C44D5-0D88-493E-789D-B098E6366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12B86-51EE-79A6-B07D-2C88245C1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Share Account Details.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 trained model no need to train again and again.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based approach.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amount before lost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role we can Access the details.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is receiver? Is device new?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Is amount abnormal? Is time suspicious?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063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52C0-BF2E-5B89-2BDB-B01695FD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489D-134A-B946-C013-DB7BBD52F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i3 or higher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Speed: 2.4 GHz or higher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4 GB (Minimum) / 8 GB (Recommended for ML training)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Disk: 500 GB</a:t>
            </a:r>
          </a:p>
        </p:txBody>
      </p:sp>
    </p:spTree>
    <p:extLst>
      <p:ext uri="{BB962C8B-B14F-4D97-AF65-F5344CB8AC3E}">
        <p14:creationId xmlns:p14="http://schemas.microsoft.com/office/powerpoint/2010/main" val="201585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C1448-3682-F711-7075-10D5C49C8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1BACD-CE7F-EE5B-B84E-FD38F40BB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10 / 11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3.8 or higher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Framework: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Stream lit.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IDE: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 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Libraries: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Scikit-Learn, Pandas, NumPy, Plot-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0157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5500-1B7A-BBC5-E6AA-02A85E5D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EDC113-7B82-20B9-5642-EA6CD6C19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diagram of a data collection">
            <a:extLst>
              <a:ext uri="{FF2B5EF4-FFF2-40B4-BE49-F238E27FC236}">
                <a16:creationId xmlns:a16="http://schemas.microsoft.com/office/drawing/2014/main" id="{BCE71CD9-7EF9-E655-A529-8BABD2DEB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49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45E59-0214-DC56-98FB-735D8CAC6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51887-CAAE-01AC-D35B-87C97CEF7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CLEANING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RESULTS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85973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6D05-5563-268E-D218-4B5990884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CDA33-D25A-A8FE-5B09-CE33BF61B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76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raw UPI transaction records from the dataset.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fields like: VPA, amount, time, device ID, location, and frequency.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used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test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fraud detection model.</a:t>
            </a:r>
          </a:p>
        </p:txBody>
      </p:sp>
    </p:spTree>
    <p:extLst>
      <p:ext uri="{BB962C8B-B14F-4D97-AF65-F5344CB8AC3E}">
        <p14:creationId xmlns:p14="http://schemas.microsoft.com/office/powerpoint/2010/main" val="15085157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42F27-90E5-999A-9FE9-C58A4555E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7EF8A-50DF-2DD3-A8A2-CF0CCCD565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&amp; CLEANING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missing values, incorrect entries, and duplicate transactions.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raw text data into proper format for ML (normalization &amp; encoding).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dataset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reliable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modeling.</a:t>
            </a:r>
          </a:p>
        </p:txBody>
      </p:sp>
    </p:spTree>
    <p:extLst>
      <p:ext uri="{BB962C8B-B14F-4D97-AF65-F5344CB8AC3E}">
        <p14:creationId xmlns:p14="http://schemas.microsoft.com/office/powerpoint/2010/main" val="3875538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9C06B-5522-E99B-C803-342269DA7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7F7A4-8782-7BFF-7D8B-FDA9087D9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069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ML models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processed dataset.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learns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vs abnormal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patterns.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758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749C-6667-BE0E-ED46-8C22DE88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E4813-231F-C8DE-431D-CEFC9EA86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RESULTS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model performance using accuracy, precision, recall, and F1-score.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accuracy is low,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tune parameters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retrain for better results.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performing algorithm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final deployment.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57012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07A4-91D0-C849-C1C2-25C2C823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27ED-2298-9623-165C-9F6F2AE39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simple and interpretable; decision-rule based classification of transactions.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easy to understand and interpret — you can literally follow the path of decisions for any transaction.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both numerical and categorical data; no need for complicated data scaling or normalization.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to train the model</a:t>
            </a:r>
          </a:p>
        </p:txBody>
      </p:sp>
    </p:spTree>
    <p:extLst>
      <p:ext uri="{BB962C8B-B14F-4D97-AF65-F5344CB8AC3E}">
        <p14:creationId xmlns:p14="http://schemas.microsoft.com/office/powerpoint/2010/main" val="15123389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C7A94-1868-5513-CB64-6293FF7D6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13950-1DE6-5B90-F8D0-0037979CF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 Boost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advanced boosted-tree ensemble; powerful and accurate for detecting complex fraud patterns.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accurate and powerful — good at capturing complex patterns, non-linear relationships, and subtle signs of fraud.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mixed data (numerical, categorical), missing values, and works well even with many features /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2617252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207B-2A52-8B40-73A6-B51CF127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8FC8B58-4AA3-B540-59A3-D59D7B68C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417638"/>
            <a:ext cx="8001000" cy="4708525"/>
          </a:xfrm>
        </p:spPr>
      </p:pic>
    </p:spTree>
    <p:extLst>
      <p:ext uri="{BB962C8B-B14F-4D97-AF65-F5344CB8AC3E}">
        <p14:creationId xmlns:p14="http://schemas.microsoft.com/office/powerpoint/2010/main" val="29308511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DEF44-7676-10BA-6AF7-8181096CE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E989EC-5A47-8A12-2FD2-48348F436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95400"/>
            <a:ext cx="8153400" cy="5410200"/>
          </a:xfrm>
        </p:spPr>
      </p:pic>
    </p:spTree>
    <p:extLst>
      <p:ext uri="{BB962C8B-B14F-4D97-AF65-F5344CB8AC3E}">
        <p14:creationId xmlns:p14="http://schemas.microsoft.com/office/powerpoint/2010/main" val="29071157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112B-02AA-32A6-ECA2-61F6BC7D5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3B875E-5E13-72D6-61DC-C45E81955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385683"/>
            <a:ext cx="3352800" cy="5287962"/>
          </a:xfrm>
        </p:spPr>
      </p:pic>
    </p:spTree>
    <p:extLst>
      <p:ext uri="{BB962C8B-B14F-4D97-AF65-F5344CB8AC3E}">
        <p14:creationId xmlns:p14="http://schemas.microsoft.com/office/powerpoint/2010/main" val="39202158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76F1-1908-6BB9-CA5D-382521D1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09749A-BE43-8CA2-208D-8C670F33B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7638"/>
            <a:ext cx="8229600" cy="5165724"/>
          </a:xfrm>
        </p:spPr>
      </p:pic>
    </p:spTree>
    <p:extLst>
      <p:ext uri="{BB962C8B-B14F-4D97-AF65-F5344CB8AC3E}">
        <p14:creationId xmlns:p14="http://schemas.microsoft.com/office/powerpoint/2010/main" val="3367189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48802-8423-A9B9-C611-B9360F2A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893EC2-F49F-A2C9-DF37-5DFF1969E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95400"/>
            <a:ext cx="8077199" cy="5181600"/>
          </a:xfrm>
        </p:spPr>
      </p:pic>
    </p:spTree>
    <p:extLst>
      <p:ext uri="{BB962C8B-B14F-4D97-AF65-F5344CB8AC3E}">
        <p14:creationId xmlns:p14="http://schemas.microsoft.com/office/powerpoint/2010/main" val="2695167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B60DB-819B-A83F-72B9-57B8E0D56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B6180-8178-E142-1203-BCE5A2B59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F1F98-1E1D-B66B-A106-252887EA9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828800"/>
            <a:ext cx="8686800" cy="475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0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E89A1-B28D-924C-A3C8-56045DABB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42058B-F821-E1F8-BAFD-7E2C60E03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17638"/>
            <a:ext cx="8229600" cy="4983162"/>
          </a:xfrm>
        </p:spPr>
      </p:pic>
    </p:spTree>
    <p:extLst>
      <p:ext uri="{BB962C8B-B14F-4D97-AF65-F5344CB8AC3E}">
        <p14:creationId xmlns:p14="http://schemas.microsoft.com/office/powerpoint/2010/main" val="4081958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DD34B-8128-A6DB-77C5-064BF0A0E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TRANSACTION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BC504D-B867-18C4-5246-CCADD72A5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24000"/>
            <a:ext cx="8458200" cy="5059362"/>
          </a:xfrm>
        </p:spPr>
      </p:pic>
    </p:spTree>
    <p:extLst>
      <p:ext uri="{BB962C8B-B14F-4D97-AF65-F5344CB8AC3E}">
        <p14:creationId xmlns:p14="http://schemas.microsoft.com/office/powerpoint/2010/main" val="136940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4FC8A-28D8-1605-241C-49DAD53E2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AUTHENTICATION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CD54A95-FDA2-4CE0-AC8A-51367EC8D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8229600" cy="4800599"/>
          </a:xfrm>
        </p:spPr>
      </p:pic>
    </p:spTree>
    <p:extLst>
      <p:ext uri="{BB962C8B-B14F-4D97-AF65-F5344CB8AC3E}">
        <p14:creationId xmlns:p14="http://schemas.microsoft.com/office/powerpoint/2010/main" val="825262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DBE1-B07A-716B-D925-ACFD3BAD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BF9D22-BF51-C3CC-4512-7B2892654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0"/>
            <a:ext cx="8686800" cy="4800600"/>
          </a:xfrm>
        </p:spPr>
      </p:pic>
    </p:spTree>
    <p:extLst>
      <p:ext uri="{BB962C8B-B14F-4D97-AF65-F5344CB8AC3E}">
        <p14:creationId xmlns:p14="http://schemas.microsoft.com/office/powerpoint/2010/main" val="630716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1DE5D-6F06-C062-8589-B168D9FB0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COUNT DAY BY DAY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CB10B3-C6EA-7A3F-1F75-61ACFD4934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80042"/>
            <a:ext cx="8305800" cy="4420758"/>
          </a:xfrm>
        </p:spPr>
      </p:pic>
    </p:spTree>
    <p:extLst>
      <p:ext uri="{BB962C8B-B14F-4D97-AF65-F5344CB8AC3E}">
        <p14:creationId xmlns:p14="http://schemas.microsoft.com/office/powerpoint/2010/main" val="42757196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71427-327E-BA0F-88D7-EDCC11C7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FRAUD DEVICES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84717B-B442-8AE6-C8DE-0EFE9DF27B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00200"/>
            <a:ext cx="8229600" cy="4724400"/>
          </a:xfrm>
        </p:spPr>
      </p:pic>
    </p:spTree>
    <p:extLst>
      <p:ext uri="{BB962C8B-B14F-4D97-AF65-F5344CB8AC3E}">
        <p14:creationId xmlns:p14="http://schemas.microsoft.com/office/powerpoint/2010/main" val="37817986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65875"/>
          </a:xfrm>
        </p:spPr>
        <p:txBody>
          <a:bodyPr/>
          <a:lstStyle/>
          <a:p>
            <a:r>
              <a:rPr lang="en-I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996</TotalTime>
  <Words>1143</Words>
  <Application>Microsoft Office PowerPoint</Application>
  <PresentationFormat>On-screen Show (4:3)</PresentationFormat>
  <Paragraphs>136</Paragraphs>
  <Slides>33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Calibri</vt:lpstr>
      <vt:lpstr>Times New Roman</vt:lpstr>
      <vt:lpstr>Wingdings</vt:lpstr>
      <vt:lpstr>Default Design</vt:lpstr>
      <vt:lpstr>Packager Shell Object</vt:lpstr>
      <vt:lpstr>           SIDDARTHA INSTITUTE OF SCIENCE AND TECHNOLOGY (AUTONOMOUS)</vt:lpstr>
      <vt:lpstr>ABSTRACT</vt:lpstr>
      <vt:lpstr>INTRODUCTION</vt:lpstr>
      <vt:lpstr>DOMAIN SPECIFICATION</vt:lpstr>
      <vt:lpstr>LITERATURE SURVEY</vt:lpstr>
      <vt:lpstr>PROBLEM STATEMENT</vt:lpstr>
      <vt:lpstr>EXISTING SYSTEM</vt:lpstr>
      <vt:lpstr>DIS ADVANTAGES OF EXISTING SYSTEM</vt:lpstr>
      <vt:lpstr>PROPOSED SYSTEM</vt:lpstr>
      <vt:lpstr>ADVANTAGES OF PROPOSED SYSTEM</vt:lpstr>
      <vt:lpstr>SYSTEM REQUIREMENTS</vt:lpstr>
      <vt:lpstr>SYSTEM REQUIREMENTS</vt:lpstr>
      <vt:lpstr>BLOCK DIAGRAM</vt:lpstr>
      <vt:lpstr>MODULES</vt:lpstr>
      <vt:lpstr>MODULES</vt:lpstr>
      <vt:lpstr>MODULES</vt:lpstr>
      <vt:lpstr>MODULES</vt:lpstr>
      <vt:lpstr>MODULES</vt:lpstr>
      <vt:lpstr>ALGORITHMS</vt:lpstr>
      <vt:lpstr>ALGORITHMS</vt:lpstr>
      <vt:lpstr>USE CASE DIAGRAM</vt:lpstr>
      <vt:lpstr>CLASS DIAGRAM</vt:lpstr>
      <vt:lpstr>ACTIVITY DIAGRAM</vt:lpstr>
      <vt:lpstr>SEQUENCE DIAGRAM</vt:lpstr>
      <vt:lpstr>DEPLOYMENT DIAGRAM</vt:lpstr>
      <vt:lpstr>RESULTS</vt:lpstr>
      <vt:lpstr>INTERFACE</vt:lpstr>
      <vt:lpstr>SINGLE TRANSACTION ANALYSIS</vt:lpstr>
      <vt:lpstr>ROLE-BASED AUTHENTICATION</vt:lpstr>
      <vt:lpstr>BATCH ANALYSIS</vt:lpstr>
      <vt:lpstr>FRAUD COUNT DAY BY DAY</vt:lpstr>
      <vt:lpstr>TOP FRAUD DEVICES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SIDDARTHA INSTITUTE OF SCIENCE AND TECHNOLOGY (AUTONOMOUS)</dc:title>
  <dc:creator>admin</dc:creator>
  <cp:lastModifiedBy>Gowtham Majjiga</cp:lastModifiedBy>
  <cp:revision>25</cp:revision>
  <dcterms:created xsi:type="dcterms:W3CDTF">2023-01-07T08:06:00Z</dcterms:created>
  <dcterms:modified xsi:type="dcterms:W3CDTF">2026-04-10T05:25:59Z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AA0639F3997345DF9A6979F9CA12658C_12</vt:lpwstr>
  </property>
  <property fmtid="{D5CDD505-2E9C-101B-9397-08002B2CF9AE}" pid="3" name="KSOProductBuildVer">
    <vt:lpwstr>1033-12.2.0.23155</vt:lpwstr>
  </property>
</Properties>
</file>